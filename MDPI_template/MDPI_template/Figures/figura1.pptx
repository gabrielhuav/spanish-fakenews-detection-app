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58" r:id="rId8"/>
    <p:sldId id="265" r:id="rId9"/>
    <p:sldId id="259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4102"/>
    <a:srgbClr val="264E59"/>
    <a:srgbClr val="A7B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>
        <p:scale>
          <a:sx n="232" d="100"/>
          <a:sy n="232" d="100"/>
        </p:scale>
        <p:origin x="168" y="-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9956F-8B4F-4B7B-8AC3-F9092BDAE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1D27A7-2292-473A-9691-040809B01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C2D9D2-DE53-456D-BB7C-306B4107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5AD2F2-EB46-4DA7-BE01-ABA1B192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AEB88B-8011-4FA2-A94D-862B1CCB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739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E830D-A694-4CA0-A08B-919B24D9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56D1D3-7D70-43DF-81FD-72F8920C4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B8C931-DBE1-4321-B7C5-A986508BB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75742F-0B0F-4161-988A-F307507E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D849D-6051-4861-AD7E-6A5BABD8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086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41734-E4BF-4164-919E-36BA4B0B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37E2D2-729D-402D-9214-ABA424458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3A75FC-58F6-4BDA-8939-945FD133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642917-4935-4140-9948-84820C10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633667-07BA-4670-9B96-CDBD8682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081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80DFE-4BCA-4FCF-BF5C-8691D4ED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2F832-C174-4624-802C-BA2358B7A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4383FA-2FC8-4A91-AC3C-AF43B2DD7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21ABD3-3DCD-4DFF-82AC-212C9FF0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C4B6D7-4BB6-456F-89F7-75EE5CD8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470A8F-A58D-40DF-820C-A81C16BD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98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BFDBD-301A-4E3A-AF31-625DE3E9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947751-1884-447D-8339-10C25D0AB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B090E3-C731-4124-A072-961243C31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B80722-6882-43E1-8656-D37A9DD0E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2007C9-F6B9-4A85-9474-61C2A6AAA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34A96D5-9654-4DDA-B44A-8884D21B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886913-3B0C-4E1A-A5CD-A2231E8B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3C1C94-5F01-47BD-93EB-4A43EB59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354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FC81F-1FE7-44FC-AE73-BC75C355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6A39B5-CACC-4AEE-9B43-A9127C8E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DABA9F-3E7F-4129-AD36-3614EEC0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F594BA-48D7-4AC7-99DA-102E4455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18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96A548-25A8-4E64-A1A8-52CAB703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54648F-E8CD-48FE-9642-98CD439B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8C9495-6715-4882-A675-7944AE05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207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2A938-E891-48CF-8169-799607A0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A19A88-F3FE-4D26-9F53-F64176AF4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DF6F8D-D5C1-40CB-9A7C-BDC39DCAF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167BA6-1BBD-4568-A0BD-C00C6EA8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1A117F-CD02-4225-955C-0B46C9F1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25F18D-9CA6-4A21-8989-87AF3189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672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0FC75-CB7C-4599-97E3-FC68E953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B3E5E7-FE23-47D2-80C4-FE217BF1C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97D33A-F63D-4D35-9434-58266B592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E26D89-828A-4A53-9507-2B2E46D5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656F94-CD78-4FC1-A0B5-959364E1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2B4B08-13FC-41EF-8A50-1F657FDE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026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CC785-DD7B-4CBF-9654-B85562B3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6101F9-A93D-422D-AE14-5446380A8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571514-BA97-43CA-800C-1CCAAA04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B1F7A2-0D2E-4773-9C51-3E063FBF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A203BA-CD7F-4FEF-8CA5-BC0C85FB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536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026C1A-5539-405C-812F-C19787273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A0C074-59D2-4302-87AB-8C825C270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84005D-45B9-4115-A092-4213ACAE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23632D-7093-47AC-AA45-4E9BE986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C1F80-87D7-4B6D-B791-38EB62D8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749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A842B6-2194-4A48-A182-B3E47CEE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4CB9D-AE0E-4248-A8FC-86A1B8EA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7E8A9-30C5-4E9C-8831-2FA6DB758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4A2E9-BBCF-4A5B-B40D-97E4A029EF02}" type="datetimeFigureOut">
              <a:rPr lang="es-MX" smtClean="0"/>
              <a:t>24/12/2025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2CDEE3-6B1E-4F7C-AA4D-FC48A33FC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ED64C-0627-4B55-9ED3-1D661F7DC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8EAF8-A14F-425E-83AF-529B9348F0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15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22.png"/><Relationship Id="rId21" Type="http://schemas.openxmlformats.org/officeDocument/2006/relationships/image" Target="../media/image24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7.png"/><Relationship Id="rId2" Type="http://schemas.openxmlformats.org/officeDocument/2006/relationships/image" Target="../media/image21.png"/><Relationship Id="rId16" Type="http://schemas.openxmlformats.org/officeDocument/2006/relationships/image" Target="../media/image16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23.png"/><Relationship Id="rId15" Type="http://schemas.openxmlformats.org/officeDocument/2006/relationships/image" Target="../media/image15.png"/><Relationship Id="rId23" Type="http://schemas.openxmlformats.org/officeDocument/2006/relationships/image" Target="../media/image26.png"/><Relationship Id="rId10" Type="http://schemas.openxmlformats.org/officeDocument/2006/relationships/image" Target="../media/image8.jpeg"/><Relationship Id="rId19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22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22.png"/><Relationship Id="rId21" Type="http://schemas.openxmlformats.org/officeDocument/2006/relationships/image" Target="../media/image24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7.png"/><Relationship Id="rId2" Type="http://schemas.openxmlformats.org/officeDocument/2006/relationships/image" Target="../media/image21.png"/><Relationship Id="rId16" Type="http://schemas.openxmlformats.org/officeDocument/2006/relationships/image" Target="../media/image16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23.png"/><Relationship Id="rId15" Type="http://schemas.openxmlformats.org/officeDocument/2006/relationships/image" Target="../media/image15.png"/><Relationship Id="rId23" Type="http://schemas.openxmlformats.org/officeDocument/2006/relationships/image" Target="../media/image26.png"/><Relationship Id="rId10" Type="http://schemas.openxmlformats.org/officeDocument/2006/relationships/image" Target="../media/image8.jpeg"/><Relationship Id="rId19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22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7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E02D8-C753-4892-9CB2-76E03B2D7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37B229-214F-4102-87D6-152CFAFED0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170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53FC8BF-40B2-483F-83DE-513B605EC32B}"/>
              </a:ext>
            </a:extLst>
          </p:cNvPr>
          <p:cNvSpPr/>
          <p:nvPr/>
        </p:nvSpPr>
        <p:spPr>
          <a:xfrm>
            <a:off x="0" y="0"/>
            <a:ext cx="5546281" cy="28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69921C6-6FF4-4F1F-B887-7E8B2F667E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4" b="9630"/>
          <a:stretch/>
        </p:blipFill>
        <p:spPr>
          <a:xfrm>
            <a:off x="125783" y="100031"/>
            <a:ext cx="5690870" cy="28151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F934C1B-EE23-46AC-BD99-B12BBC1DF390}"/>
              </a:ext>
            </a:extLst>
          </p:cNvPr>
          <p:cNvSpPr/>
          <p:nvPr/>
        </p:nvSpPr>
        <p:spPr>
          <a:xfrm>
            <a:off x="6644279" y="3977999"/>
            <a:ext cx="5547720" cy="28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BD0FA7C-A452-43B6-A662-5E4FABE771B1}"/>
              </a:ext>
            </a:extLst>
          </p:cNvPr>
          <p:cNvSpPr/>
          <p:nvPr/>
        </p:nvSpPr>
        <p:spPr>
          <a:xfrm>
            <a:off x="6650683" y="0"/>
            <a:ext cx="5547001" cy="28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B8582416-C696-4470-83CE-D87FDB6FC5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5" r="28633"/>
          <a:stretch/>
        </p:blipFill>
        <p:spPr>
          <a:xfrm>
            <a:off x="6526559" y="14269"/>
            <a:ext cx="5072688" cy="68437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3275AEF-F81B-4550-965A-6D2255949E79}"/>
              </a:ext>
            </a:extLst>
          </p:cNvPr>
          <p:cNvSpPr/>
          <p:nvPr/>
        </p:nvSpPr>
        <p:spPr>
          <a:xfrm>
            <a:off x="0" y="3978000"/>
            <a:ext cx="5546281" cy="28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7195B8D1-3E19-48CC-B558-A7EF56912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322" y="1391849"/>
            <a:ext cx="617015" cy="9540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1B392E5-1C50-4EC4-8B45-A1DAF0CE4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188"/>
          <a:stretch/>
        </p:blipFill>
        <p:spPr>
          <a:xfrm>
            <a:off x="5274619" y="1392677"/>
            <a:ext cx="480114" cy="954000"/>
          </a:xfrm>
          <a:prstGeom prst="rect">
            <a:avLst/>
          </a:prstGeom>
        </p:spPr>
      </p:pic>
      <p:pic>
        <p:nvPicPr>
          <p:cNvPr id="1026" name="Picture 2" descr="Seguridad de la base de datos - Iconos gratis de seguridad">
            <a:extLst>
              <a:ext uri="{FF2B5EF4-FFF2-40B4-BE49-F238E27FC236}">
                <a16:creationId xmlns:a16="http://schemas.microsoft.com/office/drawing/2014/main" id="{1EBBD5CE-7306-4C93-86BC-D43E76DF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105" y="2372847"/>
            <a:ext cx="542351" cy="5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e de datos - Iconos gratis de comunicaciones">
            <a:extLst>
              <a:ext uri="{FF2B5EF4-FFF2-40B4-BE49-F238E27FC236}">
                <a16:creationId xmlns:a16="http://schemas.microsoft.com/office/drawing/2014/main" id="{839E2CDC-A752-475C-9721-C1A5A451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7771" r="3787" b="6451"/>
          <a:stretch/>
        </p:blipFill>
        <p:spPr bwMode="auto">
          <a:xfrm>
            <a:off x="1634714" y="1098833"/>
            <a:ext cx="627961" cy="59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6E22961-EEB5-4F04-B8CB-2054EFD37E90}"/>
              </a:ext>
            </a:extLst>
          </p:cNvPr>
          <p:cNvCxnSpPr>
            <a:cxnSpLocks/>
          </p:cNvCxnSpPr>
          <p:nvPr/>
        </p:nvCxnSpPr>
        <p:spPr>
          <a:xfrm flipV="1">
            <a:off x="4343400" y="390799"/>
            <a:ext cx="4006575" cy="226650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Hugging Face">
            <a:extLst>
              <a:ext uri="{FF2B5EF4-FFF2-40B4-BE49-F238E27FC236}">
                <a16:creationId xmlns:a16="http://schemas.microsoft.com/office/drawing/2014/main" id="{6F9B8976-38C0-42C4-9840-EA9413DB5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4" t="29013" r="28080" b="28993"/>
          <a:stretch/>
        </p:blipFill>
        <p:spPr bwMode="auto">
          <a:xfrm>
            <a:off x="10255030" y="1988289"/>
            <a:ext cx="1016952" cy="98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esbloquear el poder de la limpieza de datos eficaz: tÃ©cnicas, beneficios  y mejores prÃ¡cticas">
            <a:extLst>
              <a:ext uri="{FF2B5EF4-FFF2-40B4-BE49-F238E27FC236}">
                <a16:creationId xmlns:a16="http://schemas.microsoft.com/office/drawing/2014/main" id="{8B307A9E-3BF0-45A4-B2CF-D803DFF20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357" y="889836"/>
            <a:ext cx="1009541" cy="10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ceso de Web Scraping">
            <a:extLst>
              <a:ext uri="{FF2B5EF4-FFF2-40B4-BE49-F238E27FC236}">
                <a16:creationId xmlns:a16="http://schemas.microsoft.com/office/drawing/2014/main" id="{EE966221-7AE5-473E-A203-B8944C592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23025" r="5556" b="9260"/>
          <a:stretch/>
        </p:blipFill>
        <p:spPr bwMode="auto">
          <a:xfrm>
            <a:off x="3884392" y="1588777"/>
            <a:ext cx="1732314" cy="5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presentación de documentos mediante TF-IDF - YouTube">
            <a:extLst>
              <a:ext uri="{FF2B5EF4-FFF2-40B4-BE49-F238E27FC236}">
                <a16:creationId xmlns:a16="http://schemas.microsoft.com/office/drawing/2014/main" id="{BFDB8E18-A754-4FA6-AD73-757163001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8" t="18395" r="24919" b="1705"/>
          <a:stretch/>
        </p:blipFill>
        <p:spPr bwMode="auto">
          <a:xfrm>
            <a:off x="9023026" y="2080741"/>
            <a:ext cx="1148450" cy="76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eras: Deep Learning for humans">
            <a:extLst>
              <a:ext uri="{FF2B5EF4-FFF2-40B4-BE49-F238E27FC236}">
                <a16:creationId xmlns:a16="http://schemas.microsoft.com/office/drawing/2014/main" id="{78608EC1-C13D-4742-A741-779E0067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795" y="4477393"/>
            <a:ext cx="1206538" cy="34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lgoritmo - Iconos gratis de editar herramientas">
            <a:extLst>
              <a:ext uri="{FF2B5EF4-FFF2-40B4-BE49-F238E27FC236}">
                <a16:creationId xmlns:a16="http://schemas.microsoft.com/office/drawing/2014/main" id="{BC62E01A-14AC-4F66-8BBD-6D93C5DF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729888"/>
            <a:ext cx="922453" cy="9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omparison Generic Outline Color icon | Freepik">
            <a:extLst>
              <a:ext uri="{FF2B5EF4-FFF2-40B4-BE49-F238E27FC236}">
                <a16:creationId xmlns:a16="http://schemas.microsoft.com/office/drawing/2014/main" id="{84CCE91B-F4D7-4F3A-AF31-3A245FC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486" y="5786568"/>
            <a:ext cx="1003873" cy="100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sets - DataForImpactProject">
            <a:extLst>
              <a:ext uri="{FF2B5EF4-FFF2-40B4-BE49-F238E27FC236}">
                <a16:creationId xmlns:a16="http://schemas.microsoft.com/office/drawing/2014/main" id="{438E4823-BCBA-4AB9-82B1-82EECF9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83" y="103700"/>
            <a:ext cx="1327261" cy="133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3D19C736-A91B-4877-9BCB-3FE8A271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243" y="99867"/>
            <a:ext cx="677015" cy="349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rgbClr val="A7BF39"/>
                </a:solidFill>
              </a:rPr>
              <a:t>70%</a:t>
            </a:r>
          </a:p>
        </p:txBody>
      </p:sp>
      <p:sp>
        <p:nvSpPr>
          <p:cNvPr id="64" name="Marcador de contenido 2">
            <a:extLst>
              <a:ext uri="{FF2B5EF4-FFF2-40B4-BE49-F238E27FC236}">
                <a16:creationId xmlns:a16="http://schemas.microsoft.com/office/drawing/2014/main" id="{98D01804-CC01-4EE1-AB35-654DF33E1FA5}"/>
              </a:ext>
            </a:extLst>
          </p:cNvPr>
          <p:cNvSpPr txBox="1">
            <a:spLocks/>
          </p:cNvSpPr>
          <p:nvPr/>
        </p:nvSpPr>
        <p:spPr>
          <a:xfrm>
            <a:off x="11056353" y="355949"/>
            <a:ext cx="481433" cy="34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200" dirty="0">
                <a:solidFill>
                  <a:srgbClr val="D44102"/>
                </a:solidFill>
              </a:rPr>
              <a:t>10%</a:t>
            </a:r>
          </a:p>
        </p:txBody>
      </p:sp>
      <p:sp>
        <p:nvSpPr>
          <p:cNvPr id="65" name="Marcador de contenido 2">
            <a:extLst>
              <a:ext uri="{FF2B5EF4-FFF2-40B4-BE49-F238E27FC236}">
                <a16:creationId xmlns:a16="http://schemas.microsoft.com/office/drawing/2014/main" id="{4040B223-B084-42FB-9894-4D0159DBCFF8}"/>
              </a:ext>
            </a:extLst>
          </p:cNvPr>
          <p:cNvSpPr txBox="1">
            <a:spLocks/>
          </p:cNvSpPr>
          <p:nvPr/>
        </p:nvSpPr>
        <p:spPr>
          <a:xfrm>
            <a:off x="10683561" y="567490"/>
            <a:ext cx="588422" cy="393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>
                <a:solidFill>
                  <a:srgbClr val="264E59"/>
                </a:solidFill>
              </a:rPr>
              <a:t>20%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F3F21D8C-7624-465E-8D6A-DEB7DE80D68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/>
          <a:stretch/>
        </p:blipFill>
        <p:spPr>
          <a:xfrm>
            <a:off x="83231" y="3637668"/>
            <a:ext cx="6360096" cy="31861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1A4E42A-D0F7-425D-A70A-54DE58187C8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8196185" y="6466441"/>
            <a:ext cx="176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768B6529-3A7C-4BED-857D-0787411D58D1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1" t="72817" r="33277" b="17275"/>
          <a:stretch/>
        </p:blipFill>
        <p:spPr>
          <a:xfrm>
            <a:off x="6561047" y="6142441"/>
            <a:ext cx="1635138" cy="648000"/>
          </a:xfrm>
          <a:prstGeom prst="rect">
            <a:avLst/>
          </a:prstGeom>
        </p:spPr>
      </p:pic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6FE8A4D0-24F9-40DC-A108-33A865806CE0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>
            <a:off x="3762375" y="6353175"/>
            <a:ext cx="2798672" cy="113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Flask - Wikipedia, la enciclopedia libre">
            <a:extLst>
              <a:ext uri="{FF2B5EF4-FFF2-40B4-BE49-F238E27FC236}">
                <a16:creationId xmlns:a16="http://schemas.microsoft.com/office/drawing/2014/main" id="{70F82797-C0E0-4392-94A6-0448EEE0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738" y="5188014"/>
            <a:ext cx="727402" cy="23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iseño Web (HTML5, CSS, JS) ~ Bienvenido Aprendamos Juntos">
            <a:extLst>
              <a:ext uri="{FF2B5EF4-FFF2-40B4-BE49-F238E27FC236}">
                <a16:creationId xmlns:a16="http://schemas.microsoft.com/office/drawing/2014/main" id="{26360320-DAFC-438C-80AF-B20E604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886" y="4073806"/>
            <a:ext cx="894261" cy="5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ue/False Question | H5P">
            <a:extLst>
              <a:ext uri="{FF2B5EF4-FFF2-40B4-BE49-F238E27FC236}">
                <a16:creationId xmlns:a16="http://schemas.microsoft.com/office/drawing/2014/main" id="{56E13F6F-4134-4A6C-A7B8-B8B8EE1E6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6438" r="12308" b="9418"/>
          <a:stretch/>
        </p:blipFill>
        <p:spPr bwMode="auto">
          <a:xfrm>
            <a:off x="3762374" y="5902763"/>
            <a:ext cx="434921" cy="3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71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B69921C6-6FF4-4F1F-B887-7E8B2F667E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4" b="9630"/>
          <a:stretch/>
        </p:blipFill>
        <p:spPr>
          <a:xfrm>
            <a:off x="125783" y="100031"/>
            <a:ext cx="5690870" cy="28151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B8582416-C696-4470-83CE-D87FDB6FC5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5" r="28633"/>
          <a:stretch/>
        </p:blipFill>
        <p:spPr>
          <a:xfrm>
            <a:off x="6526559" y="14269"/>
            <a:ext cx="5072688" cy="68437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195B8D1-3E19-48CC-B558-A7EF56912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322" y="1391849"/>
            <a:ext cx="617015" cy="9540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1B392E5-1C50-4EC4-8B45-A1DAF0CE4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188"/>
          <a:stretch/>
        </p:blipFill>
        <p:spPr>
          <a:xfrm>
            <a:off x="5274619" y="1392677"/>
            <a:ext cx="480114" cy="954000"/>
          </a:xfrm>
          <a:prstGeom prst="rect">
            <a:avLst/>
          </a:prstGeom>
        </p:spPr>
      </p:pic>
      <p:pic>
        <p:nvPicPr>
          <p:cNvPr id="1026" name="Picture 2" descr="Seguridad de la base de datos - Iconos gratis de seguridad">
            <a:extLst>
              <a:ext uri="{FF2B5EF4-FFF2-40B4-BE49-F238E27FC236}">
                <a16:creationId xmlns:a16="http://schemas.microsoft.com/office/drawing/2014/main" id="{1EBBD5CE-7306-4C93-86BC-D43E76DF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105" y="2372847"/>
            <a:ext cx="542351" cy="5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e de datos - Iconos gratis de comunicaciones">
            <a:extLst>
              <a:ext uri="{FF2B5EF4-FFF2-40B4-BE49-F238E27FC236}">
                <a16:creationId xmlns:a16="http://schemas.microsoft.com/office/drawing/2014/main" id="{839E2CDC-A752-475C-9721-C1A5A451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7771" r="3787" b="6451"/>
          <a:stretch/>
        </p:blipFill>
        <p:spPr bwMode="auto">
          <a:xfrm>
            <a:off x="1634714" y="1098833"/>
            <a:ext cx="627961" cy="59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ugging Face">
            <a:extLst>
              <a:ext uri="{FF2B5EF4-FFF2-40B4-BE49-F238E27FC236}">
                <a16:creationId xmlns:a16="http://schemas.microsoft.com/office/drawing/2014/main" id="{6F9B8976-38C0-42C4-9840-EA9413DB5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4" t="29013" r="28080" b="28993"/>
          <a:stretch/>
        </p:blipFill>
        <p:spPr bwMode="auto">
          <a:xfrm>
            <a:off x="10255030" y="1988289"/>
            <a:ext cx="1016952" cy="98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esbloquear el poder de la limpieza de datos eficaz: tÃ©cnicas, beneficios  y mejores prÃ¡cticas">
            <a:extLst>
              <a:ext uri="{FF2B5EF4-FFF2-40B4-BE49-F238E27FC236}">
                <a16:creationId xmlns:a16="http://schemas.microsoft.com/office/drawing/2014/main" id="{8B307A9E-3BF0-45A4-B2CF-D803DFF20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357" y="889836"/>
            <a:ext cx="1009541" cy="10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ceso de Web Scraping">
            <a:extLst>
              <a:ext uri="{FF2B5EF4-FFF2-40B4-BE49-F238E27FC236}">
                <a16:creationId xmlns:a16="http://schemas.microsoft.com/office/drawing/2014/main" id="{EE966221-7AE5-473E-A203-B8944C592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23025" r="5556" b="9260"/>
          <a:stretch/>
        </p:blipFill>
        <p:spPr bwMode="auto">
          <a:xfrm>
            <a:off x="3884392" y="1588777"/>
            <a:ext cx="1732314" cy="5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presentación de documentos mediante TF-IDF - YouTube">
            <a:extLst>
              <a:ext uri="{FF2B5EF4-FFF2-40B4-BE49-F238E27FC236}">
                <a16:creationId xmlns:a16="http://schemas.microsoft.com/office/drawing/2014/main" id="{BFDB8E18-A754-4FA6-AD73-757163001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8" t="18395" r="24919" b="1705"/>
          <a:stretch/>
        </p:blipFill>
        <p:spPr bwMode="auto">
          <a:xfrm>
            <a:off x="9023026" y="2080741"/>
            <a:ext cx="1148450" cy="76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eras: Deep Learning for humans">
            <a:extLst>
              <a:ext uri="{FF2B5EF4-FFF2-40B4-BE49-F238E27FC236}">
                <a16:creationId xmlns:a16="http://schemas.microsoft.com/office/drawing/2014/main" id="{78608EC1-C13D-4742-A741-779E0067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795" y="4477393"/>
            <a:ext cx="1206538" cy="34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lgoritmo - Iconos gratis de editar herramientas">
            <a:extLst>
              <a:ext uri="{FF2B5EF4-FFF2-40B4-BE49-F238E27FC236}">
                <a16:creationId xmlns:a16="http://schemas.microsoft.com/office/drawing/2014/main" id="{BC62E01A-14AC-4F66-8BBD-6D93C5DF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729888"/>
            <a:ext cx="922453" cy="9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omparison Generic Outline Color icon | Freepik">
            <a:extLst>
              <a:ext uri="{FF2B5EF4-FFF2-40B4-BE49-F238E27FC236}">
                <a16:creationId xmlns:a16="http://schemas.microsoft.com/office/drawing/2014/main" id="{84CCE91B-F4D7-4F3A-AF31-3A245FC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486" y="5786568"/>
            <a:ext cx="1003873" cy="100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sets - DataForImpactProject">
            <a:extLst>
              <a:ext uri="{FF2B5EF4-FFF2-40B4-BE49-F238E27FC236}">
                <a16:creationId xmlns:a16="http://schemas.microsoft.com/office/drawing/2014/main" id="{438E4823-BCBA-4AB9-82B1-82EECF9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83" y="103700"/>
            <a:ext cx="1327261" cy="133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3D19C736-A91B-4877-9BCB-3FE8A271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243" y="99867"/>
            <a:ext cx="677015" cy="349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rgbClr val="A7BF39"/>
                </a:solidFill>
              </a:rPr>
              <a:t>70%</a:t>
            </a:r>
          </a:p>
        </p:txBody>
      </p:sp>
      <p:sp>
        <p:nvSpPr>
          <p:cNvPr id="64" name="Marcador de contenido 2">
            <a:extLst>
              <a:ext uri="{FF2B5EF4-FFF2-40B4-BE49-F238E27FC236}">
                <a16:creationId xmlns:a16="http://schemas.microsoft.com/office/drawing/2014/main" id="{98D01804-CC01-4EE1-AB35-654DF33E1FA5}"/>
              </a:ext>
            </a:extLst>
          </p:cNvPr>
          <p:cNvSpPr txBox="1">
            <a:spLocks/>
          </p:cNvSpPr>
          <p:nvPr/>
        </p:nvSpPr>
        <p:spPr>
          <a:xfrm>
            <a:off x="11056353" y="355949"/>
            <a:ext cx="481433" cy="34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200" dirty="0">
                <a:solidFill>
                  <a:srgbClr val="D44102"/>
                </a:solidFill>
              </a:rPr>
              <a:t>10%</a:t>
            </a:r>
          </a:p>
        </p:txBody>
      </p:sp>
      <p:sp>
        <p:nvSpPr>
          <p:cNvPr id="65" name="Marcador de contenido 2">
            <a:extLst>
              <a:ext uri="{FF2B5EF4-FFF2-40B4-BE49-F238E27FC236}">
                <a16:creationId xmlns:a16="http://schemas.microsoft.com/office/drawing/2014/main" id="{4040B223-B084-42FB-9894-4D0159DBCFF8}"/>
              </a:ext>
            </a:extLst>
          </p:cNvPr>
          <p:cNvSpPr txBox="1">
            <a:spLocks/>
          </p:cNvSpPr>
          <p:nvPr/>
        </p:nvSpPr>
        <p:spPr>
          <a:xfrm>
            <a:off x="10683561" y="567490"/>
            <a:ext cx="588422" cy="393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>
                <a:solidFill>
                  <a:srgbClr val="264E59"/>
                </a:solidFill>
              </a:rPr>
              <a:t>20%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F3F21D8C-7624-465E-8D6A-DEB7DE80D68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/>
          <a:stretch/>
        </p:blipFill>
        <p:spPr>
          <a:xfrm>
            <a:off x="83231" y="3637668"/>
            <a:ext cx="6360096" cy="31861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1A4E42A-D0F7-425D-A70A-54DE58187C8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8196185" y="6466441"/>
            <a:ext cx="176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768B6529-3A7C-4BED-857D-0787411D58D1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1" t="72817" r="33277" b="17275"/>
          <a:stretch/>
        </p:blipFill>
        <p:spPr>
          <a:xfrm>
            <a:off x="6561047" y="6142441"/>
            <a:ext cx="1635138" cy="648000"/>
          </a:xfrm>
          <a:prstGeom prst="rect">
            <a:avLst/>
          </a:prstGeom>
        </p:spPr>
      </p:pic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6FE8A4D0-24F9-40DC-A108-33A865806CE0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>
            <a:off x="3762375" y="6353175"/>
            <a:ext cx="2798672" cy="113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Flask - Wikipedia, la enciclopedia libre">
            <a:extLst>
              <a:ext uri="{FF2B5EF4-FFF2-40B4-BE49-F238E27FC236}">
                <a16:creationId xmlns:a16="http://schemas.microsoft.com/office/drawing/2014/main" id="{70F82797-C0E0-4392-94A6-0448EEE0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738" y="5188014"/>
            <a:ext cx="727402" cy="23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iseño Web (HTML5, CSS, JS) ~ Bienvenido Aprendamos Juntos">
            <a:extLst>
              <a:ext uri="{FF2B5EF4-FFF2-40B4-BE49-F238E27FC236}">
                <a16:creationId xmlns:a16="http://schemas.microsoft.com/office/drawing/2014/main" id="{26360320-DAFC-438C-80AF-B20E604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886" y="4073806"/>
            <a:ext cx="894261" cy="5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ue/False Question | H5P">
            <a:extLst>
              <a:ext uri="{FF2B5EF4-FFF2-40B4-BE49-F238E27FC236}">
                <a16:creationId xmlns:a16="http://schemas.microsoft.com/office/drawing/2014/main" id="{56E13F6F-4134-4A6C-A7B8-B8B8EE1E6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6438" r="12308" b="9418"/>
          <a:stretch/>
        </p:blipFill>
        <p:spPr bwMode="auto">
          <a:xfrm>
            <a:off x="3762374" y="5902763"/>
            <a:ext cx="434921" cy="3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E38E6ABB-936F-4B4D-971A-4E08411E5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4" t="7083" r="17351" b="67210"/>
          <a:stretch/>
        </p:blipFill>
        <p:spPr bwMode="auto">
          <a:xfrm>
            <a:off x="125783" y="2342965"/>
            <a:ext cx="1260191" cy="5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D7C87E4C-0539-461C-9D33-60F46FB43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4" t="36732" r="15646" b="36367"/>
          <a:stretch/>
        </p:blipFill>
        <p:spPr bwMode="auto">
          <a:xfrm>
            <a:off x="6561047" y="24426"/>
            <a:ext cx="1236474" cy="56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7717FB8F-E046-4722-953C-4B66B62C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1" t="64220" r="16695" b="8889"/>
          <a:stretch/>
        </p:blipFill>
        <p:spPr bwMode="auto">
          <a:xfrm>
            <a:off x="146435" y="6223392"/>
            <a:ext cx="1218886" cy="5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6E22961-EEB5-4F04-B8CB-2054EFD37E90}"/>
              </a:ext>
            </a:extLst>
          </p:cNvPr>
          <p:cNvCxnSpPr>
            <a:cxnSpLocks/>
          </p:cNvCxnSpPr>
          <p:nvPr/>
        </p:nvCxnSpPr>
        <p:spPr>
          <a:xfrm flipV="1">
            <a:off x="4343400" y="567490"/>
            <a:ext cx="4001872" cy="20898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Browser - Free seo and web icons">
            <a:extLst>
              <a:ext uri="{FF2B5EF4-FFF2-40B4-BE49-F238E27FC236}">
                <a16:creationId xmlns:a16="http://schemas.microsoft.com/office/drawing/2014/main" id="{24FC662C-9F30-4786-8AA4-CDFAD06B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28" y="4403262"/>
            <a:ext cx="389049" cy="3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D80CC176-DB0E-4B8E-BE32-0A48229AD171}"/>
              </a:ext>
            </a:extLst>
          </p:cNvPr>
          <p:cNvSpPr txBox="1">
            <a:spLocks/>
          </p:cNvSpPr>
          <p:nvPr/>
        </p:nvSpPr>
        <p:spPr>
          <a:xfrm>
            <a:off x="74191" y="4379955"/>
            <a:ext cx="389049" cy="230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100" dirty="0" err="1">
                <a:solidFill>
                  <a:srgbClr val="7030A0"/>
                </a:solidFill>
              </a:rPr>
              <a:t>User</a:t>
            </a:r>
            <a:endParaRPr lang="es-MX" sz="11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361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B69921C6-6FF4-4F1F-B887-7E8B2F667E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4" b="9630"/>
          <a:stretch/>
        </p:blipFill>
        <p:spPr>
          <a:xfrm>
            <a:off x="125783" y="100031"/>
            <a:ext cx="5690870" cy="28151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B8582416-C696-4470-83CE-D87FDB6FC5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5" r="28633"/>
          <a:stretch/>
        </p:blipFill>
        <p:spPr>
          <a:xfrm>
            <a:off x="6526559" y="14269"/>
            <a:ext cx="5072688" cy="68437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195B8D1-3E19-48CC-B558-A7EF56912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322" y="1391849"/>
            <a:ext cx="617015" cy="9540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1B392E5-1C50-4EC4-8B45-A1DAF0CE4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188"/>
          <a:stretch/>
        </p:blipFill>
        <p:spPr>
          <a:xfrm>
            <a:off x="5274619" y="1392677"/>
            <a:ext cx="480114" cy="954000"/>
          </a:xfrm>
          <a:prstGeom prst="rect">
            <a:avLst/>
          </a:prstGeom>
        </p:spPr>
      </p:pic>
      <p:pic>
        <p:nvPicPr>
          <p:cNvPr id="1026" name="Picture 2" descr="Seguridad de la base de datos - Iconos gratis de seguridad">
            <a:extLst>
              <a:ext uri="{FF2B5EF4-FFF2-40B4-BE49-F238E27FC236}">
                <a16:creationId xmlns:a16="http://schemas.microsoft.com/office/drawing/2014/main" id="{1EBBD5CE-7306-4C93-86BC-D43E76DF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105" y="2372847"/>
            <a:ext cx="542351" cy="5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e de datos - Iconos gratis de comunicaciones">
            <a:extLst>
              <a:ext uri="{FF2B5EF4-FFF2-40B4-BE49-F238E27FC236}">
                <a16:creationId xmlns:a16="http://schemas.microsoft.com/office/drawing/2014/main" id="{839E2CDC-A752-475C-9721-C1A5A451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7771" r="3787" b="6451"/>
          <a:stretch/>
        </p:blipFill>
        <p:spPr bwMode="auto">
          <a:xfrm>
            <a:off x="1634714" y="1098833"/>
            <a:ext cx="627961" cy="59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ugging Face">
            <a:extLst>
              <a:ext uri="{FF2B5EF4-FFF2-40B4-BE49-F238E27FC236}">
                <a16:creationId xmlns:a16="http://schemas.microsoft.com/office/drawing/2014/main" id="{6F9B8976-38C0-42C4-9840-EA9413DB5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4" t="29013" r="28080" b="28993"/>
          <a:stretch/>
        </p:blipFill>
        <p:spPr bwMode="auto">
          <a:xfrm>
            <a:off x="10255030" y="1988289"/>
            <a:ext cx="1016952" cy="98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esbloquear el poder de la limpieza de datos eficaz: tÃ©cnicas, beneficios  y mejores prÃ¡cticas">
            <a:extLst>
              <a:ext uri="{FF2B5EF4-FFF2-40B4-BE49-F238E27FC236}">
                <a16:creationId xmlns:a16="http://schemas.microsoft.com/office/drawing/2014/main" id="{8B307A9E-3BF0-45A4-B2CF-D803DFF20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357" y="889836"/>
            <a:ext cx="1009541" cy="10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ceso de Web Scraping">
            <a:extLst>
              <a:ext uri="{FF2B5EF4-FFF2-40B4-BE49-F238E27FC236}">
                <a16:creationId xmlns:a16="http://schemas.microsoft.com/office/drawing/2014/main" id="{EE966221-7AE5-473E-A203-B8944C592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23025" r="5556" b="9260"/>
          <a:stretch/>
        </p:blipFill>
        <p:spPr bwMode="auto">
          <a:xfrm>
            <a:off x="3884392" y="1588777"/>
            <a:ext cx="1732314" cy="5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presentación de documentos mediante TF-IDF - YouTube">
            <a:extLst>
              <a:ext uri="{FF2B5EF4-FFF2-40B4-BE49-F238E27FC236}">
                <a16:creationId xmlns:a16="http://schemas.microsoft.com/office/drawing/2014/main" id="{BFDB8E18-A754-4FA6-AD73-757163001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8" t="18395" r="24919" b="1705"/>
          <a:stretch/>
        </p:blipFill>
        <p:spPr bwMode="auto">
          <a:xfrm>
            <a:off x="9023026" y="2080741"/>
            <a:ext cx="1148450" cy="76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eras: Deep Learning for humans">
            <a:extLst>
              <a:ext uri="{FF2B5EF4-FFF2-40B4-BE49-F238E27FC236}">
                <a16:creationId xmlns:a16="http://schemas.microsoft.com/office/drawing/2014/main" id="{78608EC1-C13D-4742-A741-779E0067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795" y="4477393"/>
            <a:ext cx="1206538" cy="34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lgoritmo - Iconos gratis de editar herramientas">
            <a:extLst>
              <a:ext uri="{FF2B5EF4-FFF2-40B4-BE49-F238E27FC236}">
                <a16:creationId xmlns:a16="http://schemas.microsoft.com/office/drawing/2014/main" id="{BC62E01A-14AC-4F66-8BBD-6D93C5DF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729888"/>
            <a:ext cx="922453" cy="9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omparison Generic Outline Color icon | Freepik">
            <a:extLst>
              <a:ext uri="{FF2B5EF4-FFF2-40B4-BE49-F238E27FC236}">
                <a16:creationId xmlns:a16="http://schemas.microsoft.com/office/drawing/2014/main" id="{84CCE91B-F4D7-4F3A-AF31-3A245FC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486" y="5786568"/>
            <a:ext cx="1003873" cy="100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sets - DataForImpactProject">
            <a:extLst>
              <a:ext uri="{FF2B5EF4-FFF2-40B4-BE49-F238E27FC236}">
                <a16:creationId xmlns:a16="http://schemas.microsoft.com/office/drawing/2014/main" id="{438E4823-BCBA-4AB9-82B1-82EECF9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83" y="103700"/>
            <a:ext cx="1327261" cy="133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3D19C736-A91B-4877-9BCB-3FE8A271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243" y="99867"/>
            <a:ext cx="677015" cy="349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rgbClr val="A7BF39"/>
                </a:solidFill>
              </a:rPr>
              <a:t>70%</a:t>
            </a:r>
          </a:p>
        </p:txBody>
      </p:sp>
      <p:sp>
        <p:nvSpPr>
          <p:cNvPr id="64" name="Marcador de contenido 2">
            <a:extLst>
              <a:ext uri="{FF2B5EF4-FFF2-40B4-BE49-F238E27FC236}">
                <a16:creationId xmlns:a16="http://schemas.microsoft.com/office/drawing/2014/main" id="{98D01804-CC01-4EE1-AB35-654DF33E1FA5}"/>
              </a:ext>
            </a:extLst>
          </p:cNvPr>
          <p:cNvSpPr txBox="1">
            <a:spLocks/>
          </p:cNvSpPr>
          <p:nvPr/>
        </p:nvSpPr>
        <p:spPr>
          <a:xfrm>
            <a:off x="11056353" y="355949"/>
            <a:ext cx="481433" cy="34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200" dirty="0">
                <a:solidFill>
                  <a:srgbClr val="D44102"/>
                </a:solidFill>
              </a:rPr>
              <a:t>10%</a:t>
            </a:r>
          </a:p>
        </p:txBody>
      </p:sp>
      <p:sp>
        <p:nvSpPr>
          <p:cNvPr id="65" name="Marcador de contenido 2">
            <a:extLst>
              <a:ext uri="{FF2B5EF4-FFF2-40B4-BE49-F238E27FC236}">
                <a16:creationId xmlns:a16="http://schemas.microsoft.com/office/drawing/2014/main" id="{4040B223-B084-42FB-9894-4D0159DBCFF8}"/>
              </a:ext>
            </a:extLst>
          </p:cNvPr>
          <p:cNvSpPr txBox="1">
            <a:spLocks/>
          </p:cNvSpPr>
          <p:nvPr/>
        </p:nvSpPr>
        <p:spPr>
          <a:xfrm>
            <a:off x="10683561" y="567490"/>
            <a:ext cx="588422" cy="393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>
                <a:solidFill>
                  <a:srgbClr val="264E59"/>
                </a:solidFill>
              </a:rPr>
              <a:t>20%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F3F21D8C-7624-465E-8D6A-DEB7DE80D68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/>
          <a:stretch/>
        </p:blipFill>
        <p:spPr>
          <a:xfrm>
            <a:off x="83231" y="3637668"/>
            <a:ext cx="6360096" cy="31861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1A4E42A-D0F7-425D-A70A-54DE58187C8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8196185" y="6466441"/>
            <a:ext cx="176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768B6529-3A7C-4BED-857D-0787411D58D1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1" t="72817" r="33277" b="17275"/>
          <a:stretch/>
        </p:blipFill>
        <p:spPr>
          <a:xfrm>
            <a:off x="6561047" y="6142441"/>
            <a:ext cx="1635138" cy="648000"/>
          </a:xfrm>
          <a:prstGeom prst="rect">
            <a:avLst/>
          </a:prstGeom>
        </p:spPr>
      </p:pic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6FE8A4D0-24F9-40DC-A108-33A865806CE0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>
            <a:off x="3762375" y="6353175"/>
            <a:ext cx="2798672" cy="113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Flask - Wikipedia, la enciclopedia libre">
            <a:extLst>
              <a:ext uri="{FF2B5EF4-FFF2-40B4-BE49-F238E27FC236}">
                <a16:creationId xmlns:a16="http://schemas.microsoft.com/office/drawing/2014/main" id="{70F82797-C0E0-4392-94A6-0448EEE0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738" y="5188014"/>
            <a:ext cx="727402" cy="23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iseño Web (HTML5, CSS, JS) ~ Bienvenido Aprendamos Juntos">
            <a:extLst>
              <a:ext uri="{FF2B5EF4-FFF2-40B4-BE49-F238E27FC236}">
                <a16:creationId xmlns:a16="http://schemas.microsoft.com/office/drawing/2014/main" id="{26360320-DAFC-438C-80AF-B20E604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886" y="4073806"/>
            <a:ext cx="894261" cy="5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ue/False Question | H5P">
            <a:extLst>
              <a:ext uri="{FF2B5EF4-FFF2-40B4-BE49-F238E27FC236}">
                <a16:creationId xmlns:a16="http://schemas.microsoft.com/office/drawing/2014/main" id="{56E13F6F-4134-4A6C-A7B8-B8B8EE1E6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6438" r="12308" b="9418"/>
          <a:stretch/>
        </p:blipFill>
        <p:spPr bwMode="auto">
          <a:xfrm>
            <a:off x="3762374" y="5902763"/>
            <a:ext cx="434921" cy="3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E38E6ABB-936F-4B4D-971A-4E08411E5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4" t="7083" r="17351" b="67210"/>
          <a:stretch/>
        </p:blipFill>
        <p:spPr bwMode="auto">
          <a:xfrm>
            <a:off x="125783" y="2342965"/>
            <a:ext cx="1260191" cy="5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D7C87E4C-0539-461C-9D33-60F46FB43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4" t="36732" r="15646" b="36367"/>
          <a:stretch/>
        </p:blipFill>
        <p:spPr bwMode="auto">
          <a:xfrm>
            <a:off x="6561047" y="24426"/>
            <a:ext cx="1236474" cy="56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7717FB8F-E046-4722-953C-4B66B62C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1" t="64220" r="16695" b="8889"/>
          <a:stretch/>
        </p:blipFill>
        <p:spPr bwMode="auto">
          <a:xfrm>
            <a:off x="146435" y="6223392"/>
            <a:ext cx="1218886" cy="5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6E22961-EEB5-4F04-B8CB-2054EFD37E90}"/>
              </a:ext>
            </a:extLst>
          </p:cNvPr>
          <p:cNvCxnSpPr>
            <a:cxnSpLocks/>
          </p:cNvCxnSpPr>
          <p:nvPr/>
        </p:nvCxnSpPr>
        <p:spPr>
          <a:xfrm flipV="1">
            <a:off x="4343400" y="567490"/>
            <a:ext cx="4001872" cy="20898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Browser - Free seo and web icons">
            <a:extLst>
              <a:ext uri="{FF2B5EF4-FFF2-40B4-BE49-F238E27FC236}">
                <a16:creationId xmlns:a16="http://schemas.microsoft.com/office/drawing/2014/main" id="{24FC662C-9F30-4786-8AA4-CDFAD06B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28" y="4403262"/>
            <a:ext cx="389049" cy="3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D80CC176-DB0E-4B8E-BE32-0A48229AD171}"/>
              </a:ext>
            </a:extLst>
          </p:cNvPr>
          <p:cNvSpPr txBox="1">
            <a:spLocks/>
          </p:cNvSpPr>
          <p:nvPr/>
        </p:nvSpPr>
        <p:spPr>
          <a:xfrm>
            <a:off x="74191" y="4379955"/>
            <a:ext cx="389049" cy="230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100" dirty="0" err="1">
                <a:solidFill>
                  <a:srgbClr val="7030A0"/>
                </a:solidFill>
              </a:rPr>
              <a:t>User</a:t>
            </a:r>
            <a:endParaRPr lang="es-MX" sz="11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8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>
            <a:extLst>
              <a:ext uri="{FF2B5EF4-FFF2-40B4-BE49-F238E27FC236}">
                <a16:creationId xmlns:a16="http://schemas.microsoft.com/office/drawing/2014/main" id="{519472CE-52B8-4710-8DB7-D144A67F0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2"/>
          <a:stretch/>
        </p:blipFill>
        <p:spPr bwMode="auto">
          <a:xfrm>
            <a:off x="108481" y="3667600"/>
            <a:ext cx="6291714" cy="312284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F682CF-E37F-4562-9F63-5DD12D7C2C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8" t="208" r="29538"/>
          <a:stretch/>
        </p:blipFill>
        <p:spPr>
          <a:xfrm>
            <a:off x="6526559" y="24426"/>
            <a:ext cx="5047216" cy="68135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195B8D1-3E19-48CC-B558-A7EF56912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322" y="1391849"/>
            <a:ext cx="617015" cy="95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B06099F-74B0-4BD8-A1D5-0AB15F698A1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6" b="8346"/>
          <a:stretch/>
        </p:blipFill>
        <p:spPr>
          <a:xfrm>
            <a:off x="252483" y="111028"/>
            <a:ext cx="5685367" cy="2782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1B392E5-1C50-4EC4-8B45-A1DAF0CE4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188"/>
          <a:stretch/>
        </p:blipFill>
        <p:spPr>
          <a:xfrm>
            <a:off x="5300225" y="1391849"/>
            <a:ext cx="480114" cy="954000"/>
          </a:xfrm>
          <a:prstGeom prst="rect">
            <a:avLst/>
          </a:prstGeom>
        </p:spPr>
      </p:pic>
      <p:pic>
        <p:nvPicPr>
          <p:cNvPr id="1026" name="Picture 2" descr="Seguridad de la base de datos - Iconos gratis de seguridad">
            <a:extLst>
              <a:ext uri="{FF2B5EF4-FFF2-40B4-BE49-F238E27FC236}">
                <a16:creationId xmlns:a16="http://schemas.microsoft.com/office/drawing/2014/main" id="{1EBBD5CE-7306-4C93-86BC-D43E76DF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105" y="2372847"/>
            <a:ext cx="542351" cy="5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e de datos - Iconos gratis de comunicaciones">
            <a:extLst>
              <a:ext uri="{FF2B5EF4-FFF2-40B4-BE49-F238E27FC236}">
                <a16:creationId xmlns:a16="http://schemas.microsoft.com/office/drawing/2014/main" id="{839E2CDC-A752-475C-9721-C1A5A451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7771" r="3787" b="6451"/>
          <a:stretch/>
        </p:blipFill>
        <p:spPr bwMode="auto">
          <a:xfrm>
            <a:off x="1634714" y="1098833"/>
            <a:ext cx="627961" cy="59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ugging Face">
            <a:extLst>
              <a:ext uri="{FF2B5EF4-FFF2-40B4-BE49-F238E27FC236}">
                <a16:creationId xmlns:a16="http://schemas.microsoft.com/office/drawing/2014/main" id="{6F9B8976-38C0-42C4-9840-EA9413DB5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4" t="29013" r="28080" b="28993"/>
          <a:stretch/>
        </p:blipFill>
        <p:spPr bwMode="auto">
          <a:xfrm>
            <a:off x="10280117" y="2098053"/>
            <a:ext cx="1016952" cy="98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esbloquear el poder de la limpieza de datos eficaz: tÃ©cnicas, beneficios  y mejores prÃ¡cticas">
            <a:extLst>
              <a:ext uri="{FF2B5EF4-FFF2-40B4-BE49-F238E27FC236}">
                <a16:creationId xmlns:a16="http://schemas.microsoft.com/office/drawing/2014/main" id="{8B307A9E-3BF0-45A4-B2CF-D803DFF20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80" y="978748"/>
            <a:ext cx="1009541" cy="10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ceso de Web Scraping">
            <a:extLst>
              <a:ext uri="{FF2B5EF4-FFF2-40B4-BE49-F238E27FC236}">
                <a16:creationId xmlns:a16="http://schemas.microsoft.com/office/drawing/2014/main" id="{EE966221-7AE5-473E-A203-B8944C592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23025" r="5556" b="9260"/>
          <a:stretch/>
        </p:blipFill>
        <p:spPr bwMode="auto">
          <a:xfrm>
            <a:off x="3979834" y="1588776"/>
            <a:ext cx="1732314" cy="5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presentación de documentos mediante TF-IDF - YouTube">
            <a:extLst>
              <a:ext uri="{FF2B5EF4-FFF2-40B4-BE49-F238E27FC236}">
                <a16:creationId xmlns:a16="http://schemas.microsoft.com/office/drawing/2014/main" id="{BFDB8E18-A754-4FA6-AD73-757163001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8" t="18395" r="24919" b="1705"/>
          <a:stretch/>
        </p:blipFill>
        <p:spPr bwMode="auto">
          <a:xfrm>
            <a:off x="9084574" y="2152861"/>
            <a:ext cx="1044044" cy="69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eras: Deep Learning for humans">
            <a:extLst>
              <a:ext uri="{FF2B5EF4-FFF2-40B4-BE49-F238E27FC236}">
                <a16:creationId xmlns:a16="http://schemas.microsoft.com/office/drawing/2014/main" id="{78608EC1-C13D-4742-A741-779E0067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084" y="4723920"/>
            <a:ext cx="1206538" cy="34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omparison Generic Outline Color icon | Freepik">
            <a:extLst>
              <a:ext uri="{FF2B5EF4-FFF2-40B4-BE49-F238E27FC236}">
                <a16:creationId xmlns:a16="http://schemas.microsoft.com/office/drawing/2014/main" id="{84CCE91B-F4D7-4F3A-AF31-3A245FC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624" y="5786568"/>
            <a:ext cx="1003873" cy="100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sets - DataForImpactProject">
            <a:extLst>
              <a:ext uri="{FF2B5EF4-FFF2-40B4-BE49-F238E27FC236}">
                <a16:creationId xmlns:a16="http://schemas.microsoft.com/office/drawing/2014/main" id="{438E4823-BCBA-4AB9-82B1-82EECF9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83" y="103700"/>
            <a:ext cx="1327261" cy="133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3D19C736-A91B-4877-9BCB-3FE8A271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243" y="99867"/>
            <a:ext cx="677015" cy="349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rgbClr val="A7BF39"/>
                </a:solidFill>
              </a:rPr>
              <a:t>70%</a:t>
            </a:r>
          </a:p>
        </p:txBody>
      </p:sp>
      <p:sp>
        <p:nvSpPr>
          <p:cNvPr id="64" name="Marcador de contenido 2">
            <a:extLst>
              <a:ext uri="{FF2B5EF4-FFF2-40B4-BE49-F238E27FC236}">
                <a16:creationId xmlns:a16="http://schemas.microsoft.com/office/drawing/2014/main" id="{98D01804-CC01-4EE1-AB35-654DF33E1FA5}"/>
              </a:ext>
            </a:extLst>
          </p:cNvPr>
          <p:cNvSpPr txBox="1">
            <a:spLocks/>
          </p:cNvSpPr>
          <p:nvPr/>
        </p:nvSpPr>
        <p:spPr>
          <a:xfrm>
            <a:off x="11056353" y="355949"/>
            <a:ext cx="481433" cy="34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200" dirty="0">
                <a:solidFill>
                  <a:srgbClr val="D44102"/>
                </a:solidFill>
              </a:rPr>
              <a:t>10%</a:t>
            </a:r>
          </a:p>
        </p:txBody>
      </p:sp>
      <p:sp>
        <p:nvSpPr>
          <p:cNvPr id="65" name="Marcador de contenido 2">
            <a:extLst>
              <a:ext uri="{FF2B5EF4-FFF2-40B4-BE49-F238E27FC236}">
                <a16:creationId xmlns:a16="http://schemas.microsoft.com/office/drawing/2014/main" id="{4040B223-B084-42FB-9894-4D0159DBCFF8}"/>
              </a:ext>
            </a:extLst>
          </p:cNvPr>
          <p:cNvSpPr txBox="1">
            <a:spLocks/>
          </p:cNvSpPr>
          <p:nvPr/>
        </p:nvSpPr>
        <p:spPr>
          <a:xfrm>
            <a:off x="10683561" y="567490"/>
            <a:ext cx="588422" cy="393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>
                <a:solidFill>
                  <a:srgbClr val="264E59"/>
                </a:solidFill>
              </a:rPr>
              <a:t>20%</a:t>
            </a:r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1A4E42A-D0F7-425D-A70A-54DE58187C8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8196185" y="6466441"/>
            <a:ext cx="210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768B6529-3A7C-4BED-857D-0787411D58D1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1" t="72817" r="33277" b="17275"/>
          <a:stretch/>
        </p:blipFill>
        <p:spPr>
          <a:xfrm>
            <a:off x="6561047" y="6142441"/>
            <a:ext cx="1635138" cy="648000"/>
          </a:xfrm>
          <a:prstGeom prst="rect">
            <a:avLst/>
          </a:prstGeom>
        </p:spPr>
      </p:pic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6FE8A4D0-24F9-40DC-A108-33A865806CE0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>
            <a:off x="3762375" y="6353175"/>
            <a:ext cx="2798672" cy="113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Flask - Wikipedia, la enciclopedia libre">
            <a:extLst>
              <a:ext uri="{FF2B5EF4-FFF2-40B4-BE49-F238E27FC236}">
                <a16:creationId xmlns:a16="http://schemas.microsoft.com/office/drawing/2014/main" id="{70F82797-C0E0-4392-94A6-0448EEE0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738" y="5188014"/>
            <a:ext cx="727402" cy="23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iseño Web (HTML5, CSS, JS) ~ Bienvenido Aprendamos Juntos">
            <a:extLst>
              <a:ext uri="{FF2B5EF4-FFF2-40B4-BE49-F238E27FC236}">
                <a16:creationId xmlns:a16="http://schemas.microsoft.com/office/drawing/2014/main" id="{26360320-DAFC-438C-80AF-B20E604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16" y="4145982"/>
            <a:ext cx="894261" cy="5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ue/False Question | H5P">
            <a:extLst>
              <a:ext uri="{FF2B5EF4-FFF2-40B4-BE49-F238E27FC236}">
                <a16:creationId xmlns:a16="http://schemas.microsoft.com/office/drawing/2014/main" id="{56E13F6F-4134-4A6C-A7B8-B8B8EE1E6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6438" r="12308" b="9418"/>
          <a:stretch/>
        </p:blipFill>
        <p:spPr bwMode="auto">
          <a:xfrm>
            <a:off x="4017477" y="5928064"/>
            <a:ext cx="434921" cy="3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Browser - Free seo and web icons">
            <a:extLst>
              <a:ext uri="{FF2B5EF4-FFF2-40B4-BE49-F238E27FC236}">
                <a16:creationId xmlns:a16="http://schemas.microsoft.com/office/drawing/2014/main" id="{24FC662C-9F30-4786-8AA4-CDFAD06B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29" y="4407973"/>
            <a:ext cx="389049" cy="3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D80CC176-DB0E-4B8E-BE32-0A48229AD171}"/>
              </a:ext>
            </a:extLst>
          </p:cNvPr>
          <p:cNvSpPr txBox="1">
            <a:spLocks/>
          </p:cNvSpPr>
          <p:nvPr/>
        </p:nvSpPr>
        <p:spPr>
          <a:xfrm>
            <a:off x="27465" y="4379955"/>
            <a:ext cx="609688" cy="343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100" dirty="0">
                <a:solidFill>
                  <a:srgbClr val="7030A0"/>
                </a:solidFill>
              </a:rPr>
              <a:t>Usuario</a:t>
            </a:r>
          </a:p>
        </p:txBody>
      </p:sp>
      <p:pic>
        <p:nvPicPr>
          <p:cNvPr id="38" name="Picture 14" descr="Algoritmo - Iconos gratis de editar herramientas">
            <a:extLst>
              <a:ext uri="{FF2B5EF4-FFF2-40B4-BE49-F238E27FC236}">
                <a16:creationId xmlns:a16="http://schemas.microsoft.com/office/drawing/2014/main" id="{5E76D70A-2CF9-4BD4-9D67-0B0C61CB7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05" y="3874569"/>
            <a:ext cx="922453" cy="9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etopro | Nutrieze">
            <a:extLst>
              <a:ext uri="{FF2B5EF4-FFF2-40B4-BE49-F238E27FC236}">
                <a16:creationId xmlns:a16="http://schemas.microsoft.com/office/drawing/2014/main" id="{12DB1903-8B0F-4923-B6C5-3513BDE3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94" y="212584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Dietopro | Nutrieze">
            <a:extLst>
              <a:ext uri="{FF2B5EF4-FFF2-40B4-BE49-F238E27FC236}">
                <a16:creationId xmlns:a16="http://schemas.microsoft.com/office/drawing/2014/main" id="{FAB21388-9196-4948-8125-B1A03E7AC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44" y="599317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Dietopro | Nutrieze">
            <a:extLst>
              <a:ext uri="{FF2B5EF4-FFF2-40B4-BE49-F238E27FC236}">
                <a16:creationId xmlns:a16="http://schemas.microsoft.com/office/drawing/2014/main" id="{98ABE61E-F85D-4206-9F76-CCB13AC14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272" y="33049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6E22961-EEB5-4F04-B8CB-2054EFD37E90}"/>
              </a:ext>
            </a:extLst>
          </p:cNvPr>
          <p:cNvCxnSpPr>
            <a:cxnSpLocks/>
          </p:cNvCxnSpPr>
          <p:nvPr/>
        </p:nvCxnSpPr>
        <p:spPr>
          <a:xfrm flipV="1">
            <a:off x="4462716" y="761672"/>
            <a:ext cx="3964602" cy="1881980"/>
          </a:xfrm>
          <a:prstGeom prst="bentConnector3">
            <a:avLst>
              <a:gd name="adj1" fmla="val 444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84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>
            <a:extLst>
              <a:ext uri="{FF2B5EF4-FFF2-40B4-BE49-F238E27FC236}">
                <a16:creationId xmlns:a16="http://schemas.microsoft.com/office/drawing/2014/main" id="{519472CE-52B8-4710-8DB7-D144A67F0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2"/>
          <a:stretch/>
        </p:blipFill>
        <p:spPr bwMode="auto">
          <a:xfrm>
            <a:off x="108481" y="3667600"/>
            <a:ext cx="6291714" cy="312284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F682CF-E37F-4562-9F63-5DD12D7C2C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8" t="208" r="29538"/>
          <a:stretch/>
        </p:blipFill>
        <p:spPr>
          <a:xfrm>
            <a:off x="6526559" y="24426"/>
            <a:ext cx="5047216" cy="68135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195B8D1-3E19-48CC-B558-A7EF56912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322" y="1391849"/>
            <a:ext cx="617015" cy="95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B06099F-74B0-4BD8-A1D5-0AB15F698A1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6" b="8346"/>
          <a:stretch/>
        </p:blipFill>
        <p:spPr>
          <a:xfrm>
            <a:off x="252483" y="111028"/>
            <a:ext cx="5685367" cy="2782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1B392E5-1C50-4EC4-8B45-A1DAF0CE4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188"/>
          <a:stretch/>
        </p:blipFill>
        <p:spPr>
          <a:xfrm>
            <a:off x="5300225" y="1391849"/>
            <a:ext cx="480114" cy="954000"/>
          </a:xfrm>
          <a:prstGeom prst="rect">
            <a:avLst/>
          </a:prstGeom>
        </p:spPr>
      </p:pic>
      <p:pic>
        <p:nvPicPr>
          <p:cNvPr id="1026" name="Picture 2" descr="Seguridad de la base de datos - Iconos gratis de seguridad">
            <a:extLst>
              <a:ext uri="{FF2B5EF4-FFF2-40B4-BE49-F238E27FC236}">
                <a16:creationId xmlns:a16="http://schemas.microsoft.com/office/drawing/2014/main" id="{1EBBD5CE-7306-4C93-86BC-D43E76DF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105" y="2372847"/>
            <a:ext cx="542351" cy="5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e de datos - Iconos gratis de comunicaciones">
            <a:extLst>
              <a:ext uri="{FF2B5EF4-FFF2-40B4-BE49-F238E27FC236}">
                <a16:creationId xmlns:a16="http://schemas.microsoft.com/office/drawing/2014/main" id="{839E2CDC-A752-475C-9721-C1A5A451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7771" r="3787" b="6451"/>
          <a:stretch/>
        </p:blipFill>
        <p:spPr bwMode="auto">
          <a:xfrm>
            <a:off x="1634714" y="1098833"/>
            <a:ext cx="627961" cy="59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ugging Face">
            <a:extLst>
              <a:ext uri="{FF2B5EF4-FFF2-40B4-BE49-F238E27FC236}">
                <a16:creationId xmlns:a16="http://schemas.microsoft.com/office/drawing/2014/main" id="{6F9B8976-38C0-42C4-9840-EA9413DB5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4" t="29013" r="28080" b="28993"/>
          <a:stretch/>
        </p:blipFill>
        <p:spPr bwMode="auto">
          <a:xfrm>
            <a:off x="10280117" y="2098053"/>
            <a:ext cx="1016952" cy="98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esbloquear el poder de la limpieza de datos eficaz: tÃ©cnicas, beneficios  y mejores prÃ¡cticas">
            <a:extLst>
              <a:ext uri="{FF2B5EF4-FFF2-40B4-BE49-F238E27FC236}">
                <a16:creationId xmlns:a16="http://schemas.microsoft.com/office/drawing/2014/main" id="{8B307A9E-3BF0-45A4-B2CF-D803DFF20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80" y="978748"/>
            <a:ext cx="1009541" cy="10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ceso de Web Scraping">
            <a:extLst>
              <a:ext uri="{FF2B5EF4-FFF2-40B4-BE49-F238E27FC236}">
                <a16:creationId xmlns:a16="http://schemas.microsoft.com/office/drawing/2014/main" id="{EE966221-7AE5-473E-A203-B8944C592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23025" r="5556" b="9260"/>
          <a:stretch/>
        </p:blipFill>
        <p:spPr bwMode="auto">
          <a:xfrm>
            <a:off x="3979834" y="1588776"/>
            <a:ext cx="1732314" cy="5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presentación de documentos mediante TF-IDF - YouTube">
            <a:extLst>
              <a:ext uri="{FF2B5EF4-FFF2-40B4-BE49-F238E27FC236}">
                <a16:creationId xmlns:a16="http://schemas.microsoft.com/office/drawing/2014/main" id="{BFDB8E18-A754-4FA6-AD73-757163001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8" t="18395" r="24919" b="1705"/>
          <a:stretch/>
        </p:blipFill>
        <p:spPr bwMode="auto">
          <a:xfrm>
            <a:off x="9084574" y="2152861"/>
            <a:ext cx="1044044" cy="69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eras: Deep Learning for humans">
            <a:extLst>
              <a:ext uri="{FF2B5EF4-FFF2-40B4-BE49-F238E27FC236}">
                <a16:creationId xmlns:a16="http://schemas.microsoft.com/office/drawing/2014/main" id="{78608EC1-C13D-4742-A741-779E0067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084" y="4723920"/>
            <a:ext cx="1206538" cy="34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omparison Generic Outline Color icon | Freepik">
            <a:extLst>
              <a:ext uri="{FF2B5EF4-FFF2-40B4-BE49-F238E27FC236}">
                <a16:creationId xmlns:a16="http://schemas.microsoft.com/office/drawing/2014/main" id="{84CCE91B-F4D7-4F3A-AF31-3A245FC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624" y="5786568"/>
            <a:ext cx="1003873" cy="100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sets - DataForImpactProject">
            <a:extLst>
              <a:ext uri="{FF2B5EF4-FFF2-40B4-BE49-F238E27FC236}">
                <a16:creationId xmlns:a16="http://schemas.microsoft.com/office/drawing/2014/main" id="{438E4823-BCBA-4AB9-82B1-82EECF9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83" y="103700"/>
            <a:ext cx="1327261" cy="133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3D19C736-A91B-4877-9BCB-3FE8A271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243" y="99867"/>
            <a:ext cx="677015" cy="349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rgbClr val="A7BF39"/>
                </a:solidFill>
              </a:rPr>
              <a:t>70%</a:t>
            </a:r>
          </a:p>
        </p:txBody>
      </p:sp>
      <p:sp>
        <p:nvSpPr>
          <p:cNvPr id="64" name="Marcador de contenido 2">
            <a:extLst>
              <a:ext uri="{FF2B5EF4-FFF2-40B4-BE49-F238E27FC236}">
                <a16:creationId xmlns:a16="http://schemas.microsoft.com/office/drawing/2014/main" id="{98D01804-CC01-4EE1-AB35-654DF33E1FA5}"/>
              </a:ext>
            </a:extLst>
          </p:cNvPr>
          <p:cNvSpPr txBox="1">
            <a:spLocks/>
          </p:cNvSpPr>
          <p:nvPr/>
        </p:nvSpPr>
        <p:spPr>
          <a:xfrm>
            <a:off x="11056353" y="355949"/>
            <a:ext cx="481433" cy="34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200" dirty="0">
                <a:solidFill>
                  <a:srgbClr val="D44102"/>
                </a:solidFill>
              </a:rPr>
              <a:t>10%</a:t>
            </a:r>
          </a:p>
        </p:txBody>
      </p:sp>
      <p:sp>
        <p:nvSpPr>
          <p:cNvPr id="65" name="Marcador de contenido 2">
            <a:extLst>
              <a:ext uri="{FF2B5EF4-FFF2-40B4-BE49-F238E27FC236}">
                <a16:creationId xmlns:a16="http://schemas.microsoft.com/office/drawing/2014/main" id="{4040B223-B084-42FB-9894-4D0159DBCFF8}"/>
              </a:ext>
            </a:extLst>
          </p:cNvPr>
          <p:cNvSpPr txBox="1">
            <a:spLocks/>
          </p:cNvSpPr>
          <p:nvPr/>
        </p:nvSpPr>
        <p:spPr>
          <a:xfrm>
            <a:off x="10683561" y="567490"/>
            <a:ext cx="588422" cy="393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>
                <a:solidFill>
                  <a:srgbClr val="264E59"/>
                </a:solidFill>
              </a:rPr>
              <a:t>20%</a:t>
            </a:r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1A4E42A-D0F7-425D-A70A-54DE58187C8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8196185" y="6466441"/>
            <a:ext cx="210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768B6529-3A7C-4BED-857D-0787411D58D1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1" t="72817" r="33277" b="17275"/>
          <a:stretch/>
        </p:blipFill>
        <p:spPr>
          <a:xfrm>
            <a:off x="6561047" y="6142441"/>
            <a:ext cx="1635138" cy="648000"/>
          </a:xfrm>
          <a:prstGeom prst="rect">
            <a:avLst/>
          </a:prstGeom>
        </p:spPr>
      </p:pic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6FE8A4D0-24F9-40DC-A108-33A865806CE0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>
            <a:off x="3762375" y="6353175"/>
            <a:ext cx="2798672" cy="113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Flask - Wikipedia, la enciclopedia libre">
            <a:extLst>
              <a:ext uri="{FF2B5EF4-FFF2-40B4-BE49-F238E27FC236}">
                <a16:creationId xmlns:a16="http://schemas.microsoft.com/office/drawing/2014/main" id="{70F82797-C0E0-4392-94A6-0448EEE0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738" y="5188014"/>
            <a:ext cx="727402" cy="23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iseño Web (HTML5, CSS, JS) ~ Bienvenido Aprendamos Juntos">
            <a:extLst>
              <a:ext uri="{FF2B5EF4-FFF2-40B4-BE49-F238E27FC236}">
                <a16:creationId xmlns:a16="http://schemas.microsoft.com/office/drawing/2014/main" id="{26360320-DAFC-438C-80AF-B20E604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16" y="4145982"/>
            <a:ext cx="894261" cy="5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ue/False Question | H5P">
            <a:extLst>
              <a:ext uri="{FF2B5EF4-FFF2-40B4-BE49-F238E27FC236}">
                <a16:creationId xmlns:a16="http://schemas.microsoft.com/office/drawing/2014/main" id="{56E13F6F-4134-4A6C-A7B8-B8B8EE1E6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6438" r="12308" b="9418"/>
          <a:stretch/>
        </p:blipFill>
        <p:spPr bwMode="auto">
          <a:xfrm>
            <a:off x="4017477" y="5928064"/>
            <a:ext cx="434921" cy="3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Browser - Free seo and web icons">
            <a:extLst>
              <a:ext uri="{FF2B5EF4-FFF2-40B4-BE49-F238E27FC236}">
                <a16:creationId xmlns:a16="http://schemas.microsoft.com/office/drawing/2014/main" id="{24FC662C-9F30-4786-8AA4-CDFAD06B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29" y="4407973"/>
            <a:ext cx="389049" cy="3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D80CC176-DB0E-4B8E-BE32-0A48229AD171}"/>
              </a:ext>
            </a:extLst>
          </p:cNvPr>
          <p:cNvSpPr txBox="1">
            <a:spLocks/>
          </p:cNvSpPr>
          <p:nvPr/>
        </p:nvSpPr>
        <p:spPr>
          <a:xfrm>
            <a:off x="27465" y="4379955"/>
            <a:ext cx="609688" cy="343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100" dirty="0">
                <a:solidFill>
                  <a:srgbClr val="7030A0"/>
                </a:solidFill>
              </a:rPr>
              <a:t>Usuario</a:t>
            </a:r>
          </a:p>
        </p:txBody>
      </p:sp>
      <p:pic>
        <p:nvPicPr>
          <p:cNvPr id="38" name="Picture 14" descr="Algoritmo - Iconos gratis de editar herramientas">
            <a:extLst>
              <a:ext uri="{FF2B5EF4-FFF2-40B4-BE49-F238E27FC236}">
                <a16:creationId xmlns:a16="http://schemas.microsoft.com/office/drawing/2014/main" id="{5E76D70A-2CF9-4BD4-9D67-0B0C61CB7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05" y="3874569"/>
            <a:ext cx="922453" cy="9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etopro | Nutrieze">
            <a:extLst>
              <a:ext uri="{FF2B5EF4-FFF2-40B4-BE49-F238E27FC236}">
                <a16:creationId xmlns:a16="http://schemas.microsoft.com/office/drawing/2014/main" id="{12DB1903-8B0F-4923-B6C5-3513BDE3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94" y="212584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Dietopro | Nutrieze">
            <a:extLst>
              <a:ext uri="{FF2B5EF4-FFF2-40B4-BE49-F238E27FC236}">
                <a16:creationId xmlns:a16="http://schemas.microsoft.com/office/drawing/2014/main" id="{FAB21388-9196-4948-8125-B1A03E7AC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44" y="599317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Dietopro | Nutrieze">
            <a:extLst>
              <a:ext uri="{FF2B5EF4-FFF2-40B4-BE49-F238E27FC236}">
                <a16:creationId xmlns:a16="http://schemas.microsoft.com/office/drawing/2014/main" id="{98ABE61E-F85D-4206-9F76-CCB13AC14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272" y="33049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6E22961-EEB5-4F04-B8CB-2054EFD37E90}"/>
              </a:ext>
            </a:extLst>
          </p:cNvPr>
          <p:cNvCxnSpPr>
            <a:cxnSpLocks/>
          </p:cNvCxnSpPr>
          <p:nvPr/>
        </p:nvCxnSpPr>
        <p:spPr>
          <a:xfrm flipV="1">
            <a:off x="4462716" y="761672"/>
            <a:ext cx="3964602" cy="1881980"/>
          </a:xfrm>
          <a:prstGeom prst="bentConnector3">
            <a:avLst>
              <a:gd name="adj1" fmla="val 444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9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572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F59BC40-0591-4675-9CCB-D55648AE02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82" b="8159"/>
          <a:stretch/>
        </p:blipFill>
        <p:spPr>
          <a:xfrm>
            <a:off x="164774" y="93290"/>
            <a:ext cx="5541335" cy="36387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B8582416-C696-4470-83CE-D87FDB6FC5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5" r="28633"/>
          <a:stretch/>
        </p:blipFill>
        <p:spPr>
          <a:xfrm>
            <a:off x="6526559" y="14269"/>
            <a:ext cx="5072688" cy="68437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26" name="Picture 2" descr="Seguridad de la base de datos - Iconos gratis de seguridad">
            <a:extLst>
              <a:ext uri="{FF2B5EF4-FFF2-40B4-BE49-F238E27FC236}">
                <a16:creationId xmlns:a16="http://schemas.microsoft.com/office/drawing/2014/main" id="{1EBBD5CE-7306-4C93-86BC-D43E76DF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204" y="3157824"/>
            <a:ext cx="542351" cy="5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e de datos - Iconos gratis de comunicaciones">
            <a:extLst>
              <a:ext uri="{FF2B5EF4-FFF2-40B4-BE49-F238E27FC236}">
                <a16:creationId xmlns:a16="http://schemas.microsoft.com/office/drawing/2014/main" id="{839E2CDC-A752-475C-9721-C1A5A451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7771" r="3787" b="6451"/>
          <a:stretch/>
        </p:blipFill>
        <p:spPr bwMode="auto">
          <a:xfrm>
            <a:off x="1286442" y="1435135"/>
            <a:ext cx="685347" cy="64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ugging Face">
            <a:extLst>
              <a:ext uri="{FF2B5EF4-FFF2-40B4-BE49-F238E27FC236}">
                <a16:creationId xmlns:a16="http://schemas.microsoft.com/office/drawing/2014/main" id="{6F9B8976-38C0-42C4-9840-EA9413DB5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4" t="29013" r="28080" b="28993"/>
          <a:stretch/>
        </p:blipFill>
        <p:spPr bwMode="auto">
          <a:xfrm>
            <a:off x="10255030" y="1988289"/>
            <a:ext cx="1016952" cy="98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Desbloquear el poder de la limpieza de datos eficaz: tÃ©cnicas, beneficios  y mejores prÃ¡cticas">
            <a:extLst>
              <a:ext uri="{FF2B5EF4-FFF2-40B4-BE49-F238E27FC236}">
                <a16:creationId xmlns:a16="http://schemas.microsoft.com/office/drawing/2014/main" id="{8B307A9E-3BF0-45A4-B2CF-D803DFF20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357" y="889836"/>
            <a:ext cx="1009541" cy="10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ceso de Web Scraping">
            <a:extLst>
              <a:ext uri="{FF2B5EF4-FFF2-40B4-BE49-F238E27FC236}">
                <a16:creationId xmlns:a16="http://schemas.microsoft.com/office/drawing/2014/main" id="{EE966221-7AE5-473E-A203-B8944C592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23025" r="5556" b="9260"/>
          <a:stretch/>
        </p:blipFill>
        <p:spPr bwMode="auto">
          <a:xfrm>
            <a:off x="4001508" y="2008441"/>
            <a:ext cx="1600571" cy="69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presentación de documentos mediante TF-IDF - YouTube">
            <a:extLst>
              <a:ext uri="{FF2B5EF4-FFF2-40B4-BE49-F238E27FC236}">
                <a16:creationId xmlns:a16="http://schemas.microsoft.com/office/drawing/2014/main" id="{BFDB8E18-A754-4FA6-AD73-757163001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8" t="18395" r="24919" b="1705"/>
          <a:stretch/>
        </p:blipFill>
        <p:spPr bwMode="auto">
          <a:xfrm>
            <a:off x="9023026" y="2080741"/>
            <a:ext cx="1148450" cy="76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eras: Deep Learning for humans">
            <a:extLst>
              <a:ext uri="{FF2B5EF4-FFF2-40B4-BE49-F238E27FC236}">
                <a16:creationId xmlns:a16="http://schemas.microsoft.com/office/drawing/2014/main" id="{78608EC1-C13D-4742-A741-779E0067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795" y="4477393"/>
            <a:ext cx="1206538" cy="34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lgoritmo - Iconos gratis de editar herramientas">
            <a:extLst>
              <a:ext uri="{FF2B5EF4-FFF2-40B4-BE49-F238E27FC236}">
                <a16:creationId xmlns:a16="http://schemas.microsoft.com/office/drawing/2014/main" id="{BC62E01A-14AC-4F66-8BBD-6D93C5DF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729888"/>
            <a:ext cx="922453" cy="9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omparison Generic Outline Color icon | Freepik">
            <a:extLst>
              <a:ext uri="{FF2B5EF4-FFF2-40B4-BE49-F238E27FC236}">
                <a16:creationId xmlns:a16="http://schemas.microsoft.com/office/drawing/2014/main" id="{84CCE91B-F4D7-4F3A-AF31-3A245FC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486" y="5786568"/>
            <a:ext cx="1003873" cy="100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sets - DataForImpactProject">
            <a:extLst>
              <a:ext uri="{FF2B5EF4-FFF2-40B4-BE49-F238E27FC236}">
                <a16:creationId xmlns:a16="http://schemas.microsoft.com/office/drawing/2014/main" id="{438E4823-BCBA-4AB9-82B1-82EECF9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83" y="103700"/>
            <a:ext cx="1327261" cy="133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3D19C736-A91B-4877-9BCB-3FE8A271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243" y="99867"/>
            <a:ext cx="677015" cy="349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>
                <a:solidFill>
                  <a:srgbClr val="A7BF39"/>
                </a:solidFill>
              </a:rPr>
              <a:t>70%</a:t>
            </a:r>
          </a:p>
        </p:txBody>
      </p:sp>
      <p:sp>
        <p:nvSpPr>
          <p:cNvPr id="64" name="Marcador de contenido 2">
            <a:extLst>
              <a:ext uri="{FF2B5EF4-FFF2-40B4-BE49-F238E27FC236}">
                <a16:creationId xmlns:a16="http://schemas.microsoft.com/office/drawing/2014/main" id="{98D01804-CC01-4EE1-AB35-654DF33E1FA5}"/>
              </a:ext>
            </a:extLst>
          </p:cNvPr>
          <p:cNvSpPr txBox="1">
            <a:spLocks/>
          </p:cNvSpPr>
          <p:nvPr/>
        </p:nvSpPr>
        <p:spPr>
          <a:xfrm>
            <a:off x="11056353" y="355949"/>
            <a:ext cx="481433" cy="34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200" dirty="0">
                <a:solidFill>
                  <a:srgbClr val="D44102"/>
                </a:solidFill>
              </a:rPr>
              <a:t>10%</a:t>
            </a:r>
          </a:p>
        </p:txBody>
      </p:sp>
      <p:sp>
        <p:nvSpPr>
          <p:cNvPr id="65" name="Marcador de contenido 2">
            <a:extLst>
              <a:ext uri="{FF2B5EF4-FFF2-40B4-BE49-F238E27FC236}">
                <a16:creationId xmlns:a16="http://schemas.microsoft.com/office/drawing/2014/main" id="{4040B223-B084-42FB-9894-4D0159DBCFF8}"/>
              </a:ext>
            </a:extLst>
          </p:cNvPr>
          <p:cNvSpPr txBox="1">
            <a:spLocks/>
          </p:cNvSpPr>
          <p:nvPr/>
        </p:nvSpPr>
        <p:spPr>
          <a:xfrm>
            <a:off x="10683561" y="567490"/>
            <a:ext cx="588422" cy="393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700" dirty="0">
                <a:solidFill>
                  <a:srgbClr val="264E59"/>
                </a:solidFill>
              </a:rPr>
              <a:t>20%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F3F21D8C-7624-465E-8D6A-DEB7DE80D688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/>
          <a:stretch/>
        </p:blipFill>
        <p:spPr>
          <a:xfrm>
            <a:off x="83231" y="4135521"/>
            <a:ext cx="5366298" cy="2688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1A4E42A-D0F7-425D-A70A-54DE58187C8B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8196185" y="6466441"/>
            <a:ext cx="176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768B6529-3A7C-4BED-857D-0787411D58D1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1" t="72817" r="33277" b="17275"/>
          <a:stretch/>
        </p:blipFill>
        <p:spPr>
          <a:xfrm>
            <a:off x="6561047" y="6142441"/>
            <a:ext cx="1635138" cy="648000"/>
          </a:xfrm>
          <a:prstGeom prst="rect">
            <a:avLst/>
          </a:prstGeom>
        </p:spPr>
      </p:pic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6FE8A4D0-24F9-40DC-A108-33A865806CE0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>
            <a:off x="3762375" y="6353175"/>
            <a:ext cx="2798672" cy="113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Flask - Wikipedia, la enciclopedia libre">
            <a:extLst>
              <a:ext uri="{FF2B5EF4-FFF2-40B4-BE49-F238E27FC236}">
                <a16:creationId xmlns:a16="http://schemas.microsoft.com/office/drawing/2014/main" id="{70F82797-C0E0-4392-94A6-0448EEE0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738" y="5188014"/>
            <a:ext cx="727402" cy="23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iseño Web (HTML5, CSS, JS) ~ Bienvenido Aprendamos Juntos">
            <a:extLst>
              <a:ext uri="{FF2B5EF4-FFF2-40B4-BE49-F238E27FC236}">
                <a16:creationId xmlns:a16="http://schemas.microsoft.com/office/drawing/2014/main" id="{26360320-DAFC-438C-80AF-B20E604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886" y="4073806"/>
            <a:ext cx="894261" cy="52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ue/False Question | H5P">
            <a:extLst>
              <a:ext uri="{FF2B5EF4-FFF2-40B4-BE49-F238E27FC236}">
                <a16:creationId xmlns:a16="http://schemas.microsoft.com/office/drawing/2014/main" id="{56E13F6F-4134-4A6C-A7B8-B8B8EE1E6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6438" r="12308" b="9418"/>
          <a:stretch/>
        </p:blipFill>
        <p:spPr bwMode="auto">
          <a:xfrm>
            <a:off x="3762374" y="5902763"/>
            <a:ext cx="434921" cy="3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E38E6ABB-936F-4B4D-971A-4E08411E5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4" t="7083" r="17351" b="67210"/>
          <a:stretch/>
        </p:blipFill>
        <p:spPr bwMode="auto">
          <a:xfrm>
            <a:off x="194605" y="3058775"/>
            <a:ext cx="1430357" cy="64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D7C87E4C-0539-461C-9D33-60F46FB43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4" t="36732" r="15646" b="36367"/>
          <a:stretch/>
        </p:blipFill>
        <p:spPr bwMode="auto">
          <a:xfrm>
            <a:off x="6561047" y="24426"/>
            <a:ext cx="1236474" cy="56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Step 1 Images – Browse 512,945 Stock Photos, Vectors, and Video | Adobe  Stock">
            <a:extLst>
              <a:ext uri="{FF2B5EF4-FFF2-40B4-BE49-F238E27FC236}">
                <a16:creationId xmlns:a16="http://schemas.microsoft.com/office/drawing/2014/main" id="{7717FB8F-E046-4722-953C-4B66B62C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1" t="64220" r="16695" b="8889"/>
          <a:stretch/>
        </p:blipFill>
        <p:spPr bwMode="auto">
          <a:xfrm>
            <a:off x="146435" y="6223392"/>
            <a:ext cx="1218886" cy="5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Browser - Free seo and web icons">
            <a:extLst>
              <a:ext uri="{FF2B5EF4-FFF2-40B4-BE49-F238E27FC236}">
                <a16:creationId xmlns:a16="http://schemas.microsoft.com/office/drawing/2014/main" id="{24FC662C-9F30-4786-8AA4-CDFAD06B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828" y="4403262"/>
            <a:ext cx="389049" cy="3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D80CC176-DB0E-4B8E-BE32-0A48229AD171}"/>
              </a:ext>
            </a:extLst>
          </p:cNvPr>
          <p:cNvSpPr txBox="1">
            <a:spLocks/>
          </p:cNvSpPr>
          <p:nvPr/>
        </p:nvSpPr>
        <p:spPr>
          <a:xfrm>
            <a:off x="74191" y="4379955"/>
            <a:ext cx="389049" cy="230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100" dirty="0" err="1">
                <a:solidFill>
                  <a:srgbClr val="7030A0"/>
                </a:solidFill>
              </a:rPr>
              <a:t>User</a:t>
            </a:r>
            <a:endParaRPr lang="es-MX" sz="11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30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5AA48-6827-407C-911E-001712BA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B742C1-497F-489C-92BF-AB899E8FC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7268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41</Words>
  <Application>Microsoft Office PowerPoint</Application>
  <PresentationFormat>Panorámica</PresentationFormat>
  <Paragraphs>23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 Hurtado Avilés</dc:creator>
  <cp:lastModifiedBy>Gabriel Hurtado Avilés</cp:lastModifiedBy>
  <cp:revision>27</cp:revision>
  <dcterms:created xsi:type="dcterms:W3CDTF">2025-09-28T06:33:13Z</dcterms:created>
  <dcterms:modified xsi:type="dcterms:W3CDTF">2025-12-24T06:33:32Z</dcterms:modified>
</cp:coreProperties>
</file>